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Variant Boundary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Boundaries Matter to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plots in different variants get different predictions for the same forest type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 straddling the NE/LS border gets two different growth rates, two different mortality curves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like red maple have different coefficients in NE, LS, CS, and SN variants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near borders must choose a variant, knowing the choice changes their forecast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1920240" cy="3017520"/>
          </a:xfrm>
          <a:prstGeom prst="rect">
            <a:avLst/>
          </a:prstGeom>
          <a:solidFill>
            <a:srgbClr val="D1E5F0">
              <a:alpha val="6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1097280"/>
            <a:ext cx="1920240" cy="3017520"/>
          </a:xfrm>
          <a:prstGeom prst="rect">
            <a:avLst/>
          </a:prstGeom>
          <a:solidFill>
            <a:srgbClr val="FDDBC7">
              <a:alpha val="60000"/>
            </a:srgbClr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097280"/>
            <a:ext cx="0" cy="3017520"/>
          </a:xfrm>
          <a:prstGeom prst="line">
            <a:avLst/>
          </a:prstGeom>
          <a:noFill/>
          <a:ln w="25400">
            <a:solidFill>
              <a:srgbClr val="B8202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46520" y="3246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B82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B82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0" y="3291840"/>
            <a:ext cx="1554480" cy="-731520"/>
          </a:xfrm>
          <a:prstGeom prst="line">
            <a:avLst/>
          </a:prstGeom>
          <a:noFill/>
          <a:ln w="31750">
            <a:solidFill>
              <a:srgbClr val="B820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2286000"/>
            <a:ext cx="1554480" cy="-822960"/>
          </a:xfrm>
          <a:prstGeom prst="line">
            <a:avLst/>
          </a:prstGeom>
          <a:noFill/>
          <a:ln w="31750">
            <a:solidFill>
              <a:srgbClr val="B820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3108960"/>
            <a:ext cx="3474720" cy="-1645920"/>
          </a:xfrm>
          <a:prstGeom prst="line">
            <a:avLst/>
          </a:prstGeom>
          <a:noFill/>
          <a:ln w="31750">
            <a:solidFill>
              <a:srgbClr val="2166A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4434840"/>
            <a:ext cx="457200" cy="0"/>
          </a:xfrm>
          <a:prstGeom prst="line">
            <a:avLst/>
          </a:prstGeom>
          <a:noFill/>
          <a:ln w="31750">
            <a:solidFill>
              <a:srgbClr val="B820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4343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20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FVS (22 variants)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4709160"/>
            <a:ext cx="457200" cy="0"/>
          </a:xfrm>
          <a:prstGeom prst="line">
            <a:avLst/>
          </a:prstGeom>
          <a:noFill/>
          <a:ln w="31750">
            <a:solidFill>
              <a:srgbClr val="2166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46177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6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FVS-CONUS (unified)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5120640"/>
            <a:ext cx="8412480" cy="1005840"/>
          </a:xfrm>
          <a:prstGeom prst="rect">
            <a:avLst/>
          </a:prstGeom>
          <a:solidFill>
            <a:srgbClr val="F0F4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12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major border pairs analyzed: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NE/LS, PN/WC, NE/SN, IE/EM, CS/LS. Bias gaps of 2–15 ft²/ac in basal area predictions for the same forest conditions on opposite sides of a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Calibration: v3 Ablation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22-variant benchmark across 867K conditions, 16.2M FIA tree 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920240" cy="1371600"/>
          </a:xfrm>
          <a:prstGeom prst="rect">
            <a:avLst/>
          </a:prstGeom>
          <a:solidFill>
            <a:srgbClr val="F7F9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FVS Variants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1920240" cy="1371600"/>
          </a:xfrm>
          <a:prstGeom prst="rect">
            <a:avLst/>
          </a:prstGeom>
          <a:solidFill>
            <a:srgbClr val="F7F9F7"/>
          </a:solidFill>
          <a:ln w="19050">
            <a:solidFill>
              <a:srgbClr val="216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6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867K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920240" cy="1371600"/>
          </a:xfrm>
          <a:prstGeom prst="rect">
            <a:avLst/>
          </a:prstGeom>
          <a:solidFill>
            <a:srgbClr val="F7F9F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yr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Remeasure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463040"/>
            <a:ext cx="1920240" cy="1371600"/>
          </a:xfrm>
          <a:prstGeom prst="rect">
            <a:avLst/>
          </a:prstGeom>
          <a:solidFill>
            <a:srgbClr val="F7F9F7"/>
          </a:solidFill>
          <a:ln w="19050">
            <a:solidFill>
              <a:srgbClr val="B820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2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12280" y="2194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R²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Stand-Level Validation (Calibrated vs. Default FVS)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7472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FVS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(v3)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RMSE (ft²/ac)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SDI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QMD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(CFGRS)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65760" y="5669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improves all variants consistently. Gains are real but modest over 6.5-year projection horizons.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 Ablation: Component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73152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Improvement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back-transformation fix (v2 → v3)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from Baskerville mean to median: BA RMSE 29.08 → 28.86. Baskerville correction inflated predictions 24–86% due to sigma 0.66–1.11.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ingrowth module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single component: removing ingrowth increases BA RMSE by 7.0%. Captures regeneration that default FVS misses over the 6.5-year window.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DG calibration overall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reduces BA RMSE 6.0% vs. baseline (DG only). Consistent improvement across all 20 benchmarked variants.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73152" cy="320040"/>
          </a:xfrm>
          <a:prstGeom prst="rect">
            <a:avLst/>
          </a:prstGeom>
          <a:solidFill>
            <a:srgbClr val="B8202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2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Limited Impact at Short Horizons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ClimateSI (+0.03% when removed)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productivity proxy barely registers over 6.5-year projections. Expected to matter substantially at longer horizons where cumulative growth diverges.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SDImax (−0.08% when removed)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Density-dependent mortality modifier (onset RDI=0.70, slope=0.5) rarely triggers in 6.5-year window. Critical for long-term stand dynamics.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Crown ratio model (R² = 0.13–0.38)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calibrated component. Needs fundamental redesign (lidar allometrics, nonlinear forms) for the CONUS variant.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5212080"/>
            <a:ext cx="8412480" cy="914400"/>
          </a:xfrm>
          <a:prstGeom prst="rect">
            <a:avLst/>
          </a:prstGeom>
          <a:solidFill>
            <a:srgbClr val="F0F4F0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303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benchmarks validate the pipeline, but the real test is long-term projection. ClimateSI and SDImax will diverge over 50–100 year horizons. The 22-variant architecture constrains how far calibration can take 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Forward: A Unified FVS-CONUS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Johnson, Marshall &amp; Weiskittel  |  GMUG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72400" y="6446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22 regional variants to one national growth engine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023360" cy="1737360"/>
          </a:xfrm>
          <a:prstGeom prst="rect">
            <a:avLst/>
          </a:prstGeom>
          <a:solidFill>
            <a:srgbClr val="F7F9F7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08760"/>
            <a:ext cx="64008" cy="1737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Annualized Growth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Cao/Weiskittel annualization method applied to all FIA remeasurement combinations. Eliminates measurement-period bias embedded in current Wykoff DDS models.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023360" cy="1737360"/>
          </a:xfrm>
          <a:prstGeom prst="rect">
            <a:avLst/>
          </a:prstGeom>
          <a:solidFill>
            <a:srgbClr val="F7F9F7"/>
          </a:solidFill>
          <a:ln w="19050">
            <a:solidFill>
              <a:srgbClr val="2166A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08760"/>
            <a:ext cx="64008" cy="1737360"/>
          </a:xfrm>
          <a:prstGeom prst="rect">
            <a:avLst/>
          </a:prstGeom>
          <a:solidFill>
            <a:srgbClr val="2166A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6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ORGANON-Family Equations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Biologically consistent forms (Zumrawi &amp; Hann 1993). Already fitted to 84 CONUS species (3.48M records). No log-scale back-transformation needed.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023360" cy="1737360"/>
          </a:xfrm>
          <a:prstGeom prst="rect">
            <a:avLst/>
          </a:prstGeom>
          <a:solidFill>
            <a:srgbClr val="F7F9F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64008" cy="1737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Spatial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9776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random effects (ecoregion within species) via Bayesian hierarchical models. Smooth transitions replace hard variant boundaries.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520440"/>
            <a:ext cx="4023360" cy="1737360"/>
          </a:xfrm>
          <a:prstGeom prst="rect">
            <a:avLst/>
          </a:prstGeom>
          <a:solidFill>
            <a:srgbClr val="F7F9F7"/>
          </a:solidFill>
          <a:ln w="19050">
            <a:solidFill>
              <a:srgbClr val="B8202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520440"/>
            <a:ext cx="64008" cy="1737360"/>
          </a:xfrm>
          <a:prstGeom prst="rect">
            <a:avLst/>
          </a:prstGeom>
          <a:solidFill>
            <a:srgbClr val="B8202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20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Species Coding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97764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 SPCD-based, one model per species across all regions. Partial pooling handles data-sparse species at range edges naturally.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5577840"/>
            <a:ext cx="8412480" cy="64008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623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Refitting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5669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▶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60320" y="5623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Fortran Integration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5669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5623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83680" y="5669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5623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Transition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FVS-Modern: Bayesian Calibration &amp; Path to CONUS</dc:title>
  <dc:subject>PptxGenJS Presentation</dc:subject>
  <dc:creator>Aaron Weiskittel</dc:creator>
  <cp:lastModifiedBy>Aaron Weiskittel</cp:lastModifiedBy>
  <cp:revision>1</cp:revision>
  <dcterms:created xsi:type="dcterms:W3CDTF">2026-04-09T14:24:21Z</dcterms:created>
  <dcterms:modified xsi:type="dcterms:W3CDTF">2026-04-09T14:24:21Z</dcterms:modified>
</cp:coreProperties>
</file>