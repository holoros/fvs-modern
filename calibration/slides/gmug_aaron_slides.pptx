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C3E6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Variant Boundary Problem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74320" y="644652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Johnson, Marshall &amp; Weiskittel  |  GMUG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7772400" y="644652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4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65760" y="10515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Boundaries Matter to Users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1148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Adjacent plots in different variants get different predictions for the same forest type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stand straddling the NE/LS border gets two different growth rates, two different mortality curves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Species like red maple have different coefficients in NE, LS, CS, and SN variants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near borders must choose a variant, knowing the choice changes their forecast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1097280"/>
            <a:ext cx="1920240" cy="3017520"/>
          </a:xfrm>
          <a:prstGeom prst="rect">
            <a:avLst/>
          </a:prstGeom>
          <a:solidFill>
            <a:srgbClr val="D1E5F0">
              <a:alpha val="60000"/>
            </a:srgbClr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1430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 A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766560" y="1097280"/>
            <a:ext cx="1920240" cy="3017520"/>
          </a:xfrm>
          <a:prstGeom prst="rect">
            <a:avLst/>
          </a:prstGeom>
          <a:solidFill>
            <a:srgbClr val="FDDBC7">
              <a:alpha val="60000"/>
            </a:srgbClr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66560" y="11430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 B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766560" y="1097280"/>
            <a:ext cx="0" cy="3017520"/>
          </a:xfrm>
          <a:prstGeom prst="line">
            <a:avLst/>
          </a:prstGeom>
          <a:noFill/>
          <a:ln w="25400">
            <a:solidFill>
              <a:srgbClr val="B82025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6446520" y="324612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B820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</a:t>
            </a:r>
            <a:endParaRPr lang="en-US" sz="800" dirty="0"/>
          </a:p>
          <a:p>
            <a:pPr algn="ctr" indent="0" marL="0">
              <a:buNone/>
            </a:pPr>
            <a:r>
              <a:rPr lang="en-US" sz="800" i="1" dirty="0">
                <a:solidFill>
                  <a:srgbClr val="B820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029200" y="3291840"/>
            <a:ext cx="1554480" cy="-731520"/>
          </a:xfrm>
          <a:prstGeom prst="line">
            <a:avLst/>
          </a:prstGeom>
          <a:noFill/>
          <a:ln w="31750">
            <a:solidFill>
              <a:srgbClr val="B8202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0" y="2286000"/>
            <a:ext cx="1554480" cy="-822960"/>
          </a:xfrm>
          <a:prstGeom prst="line">
            <a:avLst/>
          </a:prstGeom>
          <a:noFill/>
          <a:ln w="31750">
            <a:solidFill>
              <a:srgbClr val="B8202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0" y="3108960"/>
            <a:ext cx="3474720" cy="-1645920"/>
          </a:xfrm>
          <a:prstGeom prst="line">
            <a:avLst/>
          </a:prstGeom>
          <a:noFill/>
          <a:ln w="31750">
            <a:solidFill>
              <a:srgbClr val="2166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29200" y="4434840"/>
            <a:ext cx="457200" cy="0"/>
          </a:xfrm>
          <a:prstGeom prst="line">
            <a:avLst/>
          </a:prstGeom>
          <a:noFill/>
          <a:ln w="31750">
            <a:solidFill>
              <a:srgbClr val="B8202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577840" y="434340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20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FVS (22 variants)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029200" y="4709160"/>
            <a:ext cx="457200" cy="0"/>
          </a:xfrm>
          <a:prstGeom prst="line">
            <a:avLst/>
          </a:prstGeom>
          <a:noFill/>
          <a:ln w="31750">
            <a:solidFill>
              <a:srgbClr val="2166A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577840" y="46177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6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FVS-CONUS (unified)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65760" y="5120640"/>
            <a:ext cx="8412480" cy="1005840"/>
          </a:xfrm>
          <a:prstGeom prst="rect">
            <a:avLst/>
          </a:prstGeom>
          <a:solidFill>
            <a:srgbClr val="F0F4F0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521208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major border pairs analyzed: </a:t>
            </a:r>
            <a:pPr indent="0" marL="0">
              <a:buNone/>
            </a:pPr>
            <a:r>
              <a:rPr lang="en-US" sz="12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NE/LS, PN/WC, NE/SN, IE/EM, CS/LS. Bias gaps of 2–15 ft²/ac in basal area predictions for the same forest conditions on opposite sides of a boundary.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C3E6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Bayesian Calibration: 22-Variant Benchmark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74320" y="644652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Johnson, Marshall &amp; Weiskittel  |  GMUG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7772400" y="644652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4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65760" y="10058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 as a bridge to FVS-CONUS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463040"/>
            <a:ext cx="1920240" cy="1371600"/>
          </a:xfrm>
          <a:prstGeom prst="rect">
            <a:avLst/>
          </a:prstGeom>
          <a:solidFill>
            <a:srgbClr val="F7F9F7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5544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" y="21945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FVS Variants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514600" y="1463040"/>
            <a:ext cx="1920240" cy="1371600"/>
          </a:xfrm>
          <a:prstGeom prst="rect">
            <a:avLst/>
          </a:prstGeom>
          <a:solidFill>
            <a:srgbClr val="F7F9F7"/>
          </a:solidFill>
          <a:ln w="19050">
            <a:solidFill>
              <a:srgbClr val="2166A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14600" y="15544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166A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16.2M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2514600" y="21945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 Tree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63440" y="1463040"/>
            <a:ext cx="1920240" cy="1371600"/>
          </a:xfrm>
          <a:prstGeom prst="rect">
            <a:avLst/>
          </a:prstGeom>
          <a:solidFill>
            <a:srgbClr val="F7F9F7"/>
          </a:solidFill>
          <a:ln w="19050">
            <a:solidFill>
              <a:srgbClr val="D4A84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63440" y="15544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435K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663440" y="21945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12280" y="1463040"/>
            <a:ext cx="1920240" cy="1371600"/>
          </a:xfrm>
          <a:prstGeom prst="rect">
            <a:avLst/>
          </a:prstGeom>
          <a:solidFill>
            <a:srgbClr val="F7F9F7"/>
          </a:solidFill>
          <a:ln w="19050">
            <a:solidFill>
              <a:srgbClr val="B8202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12280" y="15544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B8202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6.5 yr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812280" y="21945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Remeasure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65760" y="30632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Stand-Level Validation (Calibrated vs. Default FVS)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474720"/>
          <a:ext cx="841248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828800"/>
                <a:gridCol w="182880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FVS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6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 R²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 RMSE (ft²/ac)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Volume (CFGRS) R²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Volume (BFNET) R²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 Equivalence (±10%)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+5.5 pp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8"/>
          <p:cNvSpPr/>
          <p:nvPr/>
        </p:nvSpPr>
        <p:spPr>
          <a:xfrm>
            <a:off x="365760" y="56692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improves all variants, but gains are modest — the architecture itself is the bottleneck.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C3E6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Component Contributions &amp; Remaining Challenges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74320" y="644652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Johnson, Marshall &amp; Weiskittel  |  GMUG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7772400" y="644652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65760" y="1051560"/>
            <a:ext cx="73152" cy="32004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515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What’s Working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1508760"/>
            <a:ext cx="38404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 back-transformation fix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Baskerville correction inflated predictions 24–86%. Switching to median prediction was the single biggest improvement.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ClimateSI as site productivity proxy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ClimateNA-based site index covers 99.6% of FIA conditions. Reduces reliance on inconsistent FIA SICOND values.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Bayesian SDImax estimates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Data-driven carrying capacity averages 23% lower than FVS defaults. Asymmetric mortality onset at RDI=0.70 improves dense-stand projections.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846320" y="1051560"/>
            <a:ext cx="73152" cy="320040"/>
          </a:xfrm>
          <a:prstGeom prst="rect">
            <a:avLst/>
          </a:prstGeom>
          <a:solidFill>
            <a:srgbClr val="B82025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10515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202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Remaining Challenges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29200" y="1508760"/>
            <a:ext cx="38404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Crown ratio model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= 0.13–0.38 across variants. Weakest calibrated component. Needs fundamentally different approach (lidar allometrics, nonlinear forms).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index inconsistency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definitions for Douglas-fir alone. Even with ClimateSI, legacy SI confusion propagates through height growth.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Ingrowth is empirical only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Adequate for 5–15 year projections but not climate-sensitive. Cannot capture shifting species composition.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760" y="5212080"/>
            <a:ext cx="8412480" cy="914400"/>
          </a:xfrm>
          <a:prstGeom prst="rect">
            <a:avLst/>
          </a:prstGeom>
          <a:solidFill>
            <a:srgbClr val="F0F4F0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530352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</a:t>
            </a:r>
            <a:pPr indent="0" marL="0">
              <a:buNone/>
            </a:pPr>
            <a:r>
              <a:rPr lang="en-US" sz="120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22-variant architecture constrains how far calibration alone can take us. Many of these challenges are structural and require a unified national framework to solve properly.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C3E6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Path Forward: A Unified FVS-CONUS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74320" y="644652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Johnson, Marshall &amp; Weiskittel  |  GMUG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7772400" y="644652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4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65760" y="10058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22 regional variants to one national growth engine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508760"/>
            <a:ext cx="4023360" cy="1737360"/>
          </a:xfrm>
          <a:prstGeom prst="rect">
            <a:avLst/>
          </a:prstGeom>
          <a:solidFill>
            <a:srgbClr val="F7F9F7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508760"/>
            <a:ext cx="64008" cy="173736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600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Annualized Growth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1965960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from variable-interval projection to annualized increment equations. Standardize across all measurement periods. Eliminate the remeasurement-length bias.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63440" y="1508760"/>
            <a:ext cx="4023360" cy="1737360"/>
          </a:xfrm>
          <a:prstGeom prst="rect">
            <a:avLst/>
          </a:prstGeom>
          <a:solidFill>
            <a:srgbClr val="F7F9F7"/>
          </a:solidFill>
          <a:ln w="19050">
            <a:solidFill>
              <a:srgbClr val="2166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1508760"/>
            <a:ext cx="64008" cy="1737360"/>
          </a:xfrm>
          <a:prstGeom prst="rect">
            <a:avLst/>
          </a:prstGeom>
          <a:solidFill>
            <a:srgbClr val="2166AC"/>
          </a:solidFill>
          <a:ln/>
        </p:spPr>
      </p:sp>
      <p:sp>
        <p:nvSpPr>
          <p:cNvPr id="13" name="Text 11"/>
          <p:cNvSpPr/>
          <p:nvPr/>
        </p:nvSpPr>
        <p:spPr>
          <a:xfrm>
            <a:off x="4846320" y="1600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66A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New Equation Forms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46320" y="1965960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Wykoff ln(DDS) with biologically consistent forms (e.g., ORGANON-family). Better behavior at diameter extremes. Crown ratio and height growth redesigned from scratch.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65760" y="3520440"/>
            <a:ext cx="4023360" cy="1737360"/>
          </a:xfrm>
          <a:prstGeom prst="rect">
            <a:avLst/>
          </a:prstGeom>
          <a:solidFill>
            <a:srgbClr val="F7F9F7"/>
          </a:solidFill>
          <a:ln w="19050">
            <a:solidFill>
              <a:srgbClr val="D4A84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3520440"/>
            <a:ext cx="64008" cy="173736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611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Continuous Spatial Effects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3977640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Ecoregion partial pooling replaces hard variant boundaries. Climate covariates capture productivity gradients. No more discontinuities at arbitrary borders.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663440" y="3520440"/>
            <a:ext cx="4023360" cy="1737360"/>
          </a:xfrm>
          <a:prstGeom prst="rect">
            <a:avLst/>
          </a:prstGeom>
          <a:solidFill>
            <a:srgbClr val="F7F9F7"/>
          </a:solidFill>
          <a:ln w="19050">
            <a:solidFill>
              <a:srgbClr val="B8202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63440" y="3520440"/>
            <a:ext cx="64008" cy="1737360"/>
          </a:xfrm>
          <a:prstGeom prst="rect">
            <a:avLst/>
          </a:prstGeom>
          <a:solidFill>
            <a:srgbClr val="B82025"/>
          </a:solidFill>
          <a:ln/>
        </p:spPr>
      </p:sp>
      <p:sp>
        <p:nvSpPr>
          <p:cNvPr id="21" name="Text 19"/>
          <p:cNvSpPr/>
          <p:nvPr/>
        </p:nvSpPr>
        <p:spPr>
          <a:xfrm>
            <a:off x="4846320" y="3611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202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Species by FIA SPCD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846320" y="3977640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 species coding. One red maple model across all regions with regional random effects. Data-driven coverage for 84+ species with ≥5,000 FIA observations each.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65760" y="5577840"/>
            <a:ext cx="8412480" cy="640080"/>
          </a:xfrm>
          <a:prstGeom prst="rect">
            <a:avLst/>
          </a:prstGeom>
          <a:solidFill>
            <a:srgbClr val="2C3E6B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56235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2026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Equation Refitting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377440" y="56692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7BC62"/>
                </a:solidFill>
              </a:rPr>
              <a:t>▶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560320" y="56235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Fortran Integration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480560" y="56692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7BC62"/>
                </a:solidFill>
              </a:rPr>
              <a:t>▶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663440" y="56235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2026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&amp; Testing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583680" y="56692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7BC62"/>
                </a:solidFill>
              </a:rPr>
              <a:t>▶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766560" y="56235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&amp; Transition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FVS-Modern: Bayesian Calibration &amp; Path to CONUS</dc:title>
  <dc:subject>PptxGenJS Presentation</dc:subject>
  <dc:creator>Aaron Weiskittel</dc:creator>
  <cp:lastModifiedBy>Aaron Weiskittel</cp:lastModifiedBy>
  <cp:revision>1</cp:revision>
  <dcterms:created xsi:type="dcterms:W3CDTF">2026-04-09T10:34:59Z</dcterms:created>
  <dcterms:modified xsi:type="dcterms:W3CDTF">2026-04-09T10:34:59Z</dcterms:modified>
</cp:coreProperties>
</file>