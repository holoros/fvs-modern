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FIA Observed</c:v>
                </c:pt>
              </c:strCache>
            </c:strRef>
          </c:tx>
          <c:spPr>
            <a:solidFill>
              <a:srgbClr val="1B9E77"/>
            </a:solidFill>
            <a:ln w="25400" cap="flat">
              <a:solidFill>
                <a:srgbClr val="1B9E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9E77"/>
              </a:solidFill>
              <a:ln w="9525" cap="flat">
                <a:solidFill>
                  <a:srgbClr val="1B9E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2003</c:v>
                  </c:pt>
                  <c:pt idx="1">
                    <c:v>2008</c:v>
                  </c:pt>
                  <c:pt idx="2">
                    <c:v>2013</c:v>
                  </c:pt>
                  <c:pt idx="3">
                    <c:v>2018</c:v>
                  </c:pt>
                  <c:pt idx="4">
                    <c:v>2023</c:v>
                  </c:pt>
                  <c:pt idx="5">
                    <c:v>2028</c:v>
                  </c:pt>
                  <c:pt idx="6">
                    <c:v>2033</c:v>
                  </c:pt>
                  <c:pt idx="7">
                    <c:v>2038</c:v>
                  </c:pt>
                  <c:pt idx="8">
                    <c:v>2043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248.91</c:v>
                </c:pt>
                <c:pt idx="1">
                  <c:v>281.27</c:v>
                </c:pt>
                <c:pt idx="2">
                  <c:v>322.58</c:v>
                </c:pt>
                <c:pt idx="3">
                  <c:v>360.73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ACD Calibrated</c:v>
                </c:pt>
              </c:strCache>
            </c:strRef>
          </c:tx>
          <c:spPr>
            <a:solidFill>
              <a:srgbClr val="E6550D"/>
            </a:solidFill>
            <a:ln w="25400" cap="flat">
              <a:solidFill>
                <a:srgbClr val="E6550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50D"/>
              </a:solidFill>
              <a:ln w="9525" cap="flat">
                <a:solidFill>
                  <a:srgbClr val="E6550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2003</c:v>
                  </c:pt>
                  <c:pt idx="1">
                    <c:v>2008</c:v>
                  </c:pt>
                  <c:pt idx="2">
                    <c:v>2013</c:v>
                  </c:pt>
                  <c:pt idx="3">
                    <c:v>2018</c:v>
                  </c:pt>
                  <c:pt idx="4">
                    <c:v>2023</c:v>
                  </c:pt>
                  <c:pt idx="5">
                    <c:v>2028</c:v>
                  </c:pt>
                  <c:pt idx="6">
                    <c:v>2033</c:v>
                  </c:pt>
                  <c:pt idx="7">
                    <c:v>2038</c:v>
                  </c:pt>
                  <c:pt idx="8">
                    <c:v>2043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248.91</c:v>
                </c:pt>
                <c:pt idx="1">
                  <c:v>307.8</c:v>
                </c:pt>
                <c:pt idx="2">
                  <c:v>359.42</c:v>
                </c:pt>
                <c:pt idx="3">
                  <c:v>408.7</c:v>
                </c:pt>
                <c:pt idx="4">
                  <c:v>450.75</c:v>
                </c:pt>
                <c:pt idx="5">
                  <c:v>489.21</c:v>
                </c:pt>
                <c:pt idx="6">
                  <c:v>525.32</c:v>
                </c:pt>
                <c:pt idx="7">
                  <c:v>559.37</c:v>
                </c:pt>
                <c:pt idx="8">
                  <c:v>591.21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ACD Default</c:v>
                </c:pt>
              </c:strCache>
            </c:strRef>
          </c:tx>
          <c:spPr>
            <a:solidFill>
              <a:srgbClr val="FDAE6B"/>
            </a:solidFill>
            <a:ln w="25400" cap="flat">
              <a:solidFill>
                <a:srgbClr val="FDAE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DAE6B"/>
              </a:solidFill>
              <a:ln w="9525" cap="flat">
                <a:solidFill>
                  <a:srgbClr val="FDAE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2003</c:v>
                  </c:pt>
                  <c:pt idx="1">
                    <c:v>2008</c:v>
                  </c:pt>
                  <c:pt idx="2">
                    <c:v>2013</c:v>
                  </c:pt>
                  <c:pt idx="3">
                    <c:v>2018</c:v>
                  </c:pt>
                  <c:pt idx="4">
                    <c:v>2023</c:v>
                  </c:pt>
                  <c:pt idx="5">
                    <c:v>2028</c:v>
                  </c:pt>
                  <c:pt idx="6">
                    <c:v>2033</c:v>
                  </c:pt>
                  <c:pt idx="7">
                    <c:v>2038</c:v>
                  </c:pt>
                  <c:pt idx="8">
                    <c:v>2043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248.91</c:v>
                </c:pt>
                <c:pt idx="1">
                  <c:v>308.77</c:v>
                </c:pt>
                <c:pt idx="2">
                  <c:v>360.8</c:v>
                </c:pt>
                <c:pt idx="3">
                  <c:v>409.7</c:v>
                </c:pt>
                <c:pt idx="4">
                  <c:v>451.61</c:v>
                </c:pt>
                <c:pt idx="5">
                  <c:v>489.89</c:v>
                </c:pt>
                <c:pt idx="6">
                  <c:v>525.85</c:v>
                </c:pt>
                <c:pt idx="7">
                  <c:v>559.86</c:v>
                </c:pt>
                <c:pt idx="8">
                  <c:v>591.73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 Calibrated</c:v>
                </c:pt>
              </c:strCache>
            </c:strRef>
          </c:tx>
          <c:spPr>
            <a:solidFill>
              <a:srgbClr val="6A51A3"/>
            </a:solidFill>
            <a:ln w="25400" cap="flat">
              <a:solidFill>
                <a:srgbClr val="6A51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51A3"/>
              </a:solidFill>
              <a:ln w="9525" cap="flat">
                <a:solidFill>
                  <a:srgbClr val="6A51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2003</c:v>
                  </c:pt>
                  <c:pt idx="1">
                    <c:v>2008</c:v>
                  </c:pt>
                  <c:pt idx="2">
                    <c:v>2013</c:v>
                  </c:pt>
                  <c:pt idx="3">
                    <c:v>2018</c:v>
                  </c:pt>
                  <c:pt idx="4">
                    <c:v>2023</c:v>
                  </c:pt>
                  <c:pt idx="5">
                    <c:v>2028</c:v>
                  </c:pt>
                  <c:pt idx="6">
                    <c:v>2033</c:v>
                  </c:pt>
                  <c:pt idx="7">
                    <c:v>2038</c:v>
                  </c:pt>
                  <c:pt idx="8">
                    <c:v>2043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248.91</c:v>
                </c:pt>
                <c:pt idx="1">
                  <c:v>293.59</c:v>
                </c:pt>
                <c:pt idx="2">
                  <c:v>336.87</c:v>
                </c:pt>
                <c:pt idx="3">
                  <c:v>377.58</c:v>
                </c:pt>
                <c:pt idx="4">
                  <c:v>414.71</c:v>
                </c:pt>
                <c:pt idx="5">
                  <c:v>449.53</c:v>
                </c:pt>
                <c:pt idx="6">
                  <c:v>482.79</c:v>
                </c:pt>
                <c:pt idx="7">
                  <c:v>514.18</c:v>
                </c:pt>
                <c:pt idx="8">
                  <c:v>543.8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NE Default</c:v>
                </c:pt>
              </c:strCache>
            </c:strRef>
          </c:tx>
          <c:spPr>
            <a:solidFill>
              <a:srgbClr val="BCBDDC"/>
            </a:solidFill>
            <a:ln w="25400" cap="flat">
              <a:solidFill>
                <a:srgbClr val="BCBD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CBDDC"/>
              </a:solidFill>
              <a:ln w="9525" cap="flat">
                <a:solidFill>
                  <a:srgbClr val="BCBD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2003</c:v>
                  </c:pt>
                  <c:pt idx="1">
                    <c:v>2008</c:v>
                  </c:pt>
                  <c:pt idx="2">
                    <c:v>2013</c:v>
                  </c:pt>
                  <c:pt idx="3">
                    <c:v>2018</c:v>
                  </c:pt>
                  <c:pt idx="4">
                    <c:v>2023</c:v>
                  </c:pt>
                  <c:pt idx="5">
                    <c:v>2028</c:v>
                  </c:pt>
                  <c:pt idx="6">
                    <c:v>2033</c:v>
                  </c:pt>
                  <c:pt idx="7">
                    <c:v>2038</c:v>
                  </c:pt>
                  <c:pt idx="8">
                    <c:v>2043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248.91</c:v>
                </c:pt>
                <c:pt idx="1">
                  <c:v>302.51</c:v>
                </c:pt>
                <c:pt idx="2">
                  <c:v>353.31</c:v>
                </c:pt>
                <c:pt idx="3">
                  <c:v>400.56</c:v>
                </c:pt>
                <c:pt idx="4">
                  <c:v>443.56</c:v>
                </c:pt>
                <c:pt idx="5">
                  <c:v>483.49</c:v>
                </c:pt>
                <c:pt idx="6">
                  <c:v>521.47</c:v>
                </c:pt>
                <c:pt idx="7">
                  <c:v>557.29</c:v>
                </c:pt>
                <c:pt idx="8">
                  <c:v>591.18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Modernizing FVS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Calibration and the Path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Unified CONUS Growth Engine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2286000" cy="0"/>
          </a:xfrm>
          <a:prstGeom prst="line">
            <a:avLst/>
          </a:prstGeom>
          <a:noFill/>
          <a:ln w="25400">
            <a:solidFill>
              <a:srgbClr val="6B8F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Weiskittel  |  Greg Johnson  |  David Marshall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Model Users Group  |  April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B8F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Modernize FVS?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1097280"/>
          </a:xfrm>
          <a:prstGeom prst="rect">
            <a:avLst/>
          </a:prstGeom>
          <a:solidFill>
            <a:srgbClr val="6B8F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variants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554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different equation forms,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tables, and site handling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64008" cy="1097280"/>
          </a:xfrm>
          <a:prstGeom prst="rect">
            <a:avLst/>
          </a:prstGeom>
          <a:solidFill>
            <a:srgbClr val="6B8F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231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73736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legacy 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equations have not been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with contemporary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57600"/>
            <a:ext cx="64008" cy="1097280"/>
          </a:xfrm>
          <a:prstGeom prst="rect">
            <a:avLst/>
          </a:prstGeom>
          <a:solidFill>
            <a:srgbClr val="6B8F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73736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estimates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mechanism for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propagating parameter uncertainty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1673352"/>
            <a:ext cx="164592" cy="164592"/>
          </a:xfrm>
          <a:prstGeom prst="ellipse">
            <a:avLst/>
          </a:prstGeom>
          <a:solidFill>
            <a:srgbClr val="1A7A6D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600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species behaves differently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which variant you use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450592"/>
            <a:ext cx="164592" cy="164592"/>
          </a:xfrm>
          <a:prstGeom prst="ellipse">
            <a:avLst/>
          </a:prstGeom>
          <a:solidFill>
            <a:srgbClr val="1A7A6D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37744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variants validate poorly against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FIA remeasurements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227832"/>
            <a:ext cx="164592" cy="164592"/>
          </a:xfrm>
          <a:prstGeom prst="ellipse">
            <a:avLst/>
          </a:prstGeom>
          <a:solidFill>
            <a:srgbClr val="1A7A6D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31546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productivity is handled inconsistently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variant boundaries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4005072"/>
            <a:ext cx="164592" cy="164592"/>
          </a:xfrm>
          <a:prstGeom prst="ellipse">
            <a:avLst/>
          </a:prstGeom>
          <a:solidFill>
            <a:srgbClr val="1A7A6D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931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way to quantify prediction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 planning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FVS-Modern: Bayesian Recalibration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1500" y="118872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188720"/>
            <a:ext cx="18288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6" name="Shape 4"/>
          <p:cNvSpPr/>
          <p:nvPr/>
        </p:nvSpPr>
        <p:spPr>
          <a:xfrm>
            <a:off x="1284732" y="13716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2847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8660" y="1874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" y="2514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16.2M trees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435K condition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across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18588" y="201168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4A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28900" y="118872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8900" y="1188720"/>
            <a:ext cx="18288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3" name="Shape 11"/>
          <p:cNvSpPr/>
          <p:nvPr/>
        </p:nvSpPr>
        <p:spPr>
          <a:xfrm>
            <a:off x="3342132" y="13716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33421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66060" y="1874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66060" y="2514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Stan/ADVI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components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variant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5988" y="201168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4A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118872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6300" y="1188720"/>
            <a:ext cx="18288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9532" y="13716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53995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23460" y="1874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Variants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23460" y="2514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DG, HG, H-D,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mortality, CR,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SDI equations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3388" y="201168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F4A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43700" y="1188720"/>
            <a:ext cx="1828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43700" y="1188720"/>
            <a:ext cx="1828800" cy="54864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7" name="Shape 25"/>
          <p:cNvSpPr/>
          <p:nvPr/>
        </p:nvSpPr>
        <p:spPr>
          <a:xfrm>
            <a:off x="7456932" y="13716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7456932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80860" y="1874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80860" y="2514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posterior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intervals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 – 0.90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H-D R²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3840480"/>
            <a:ext cx="0" cy="822960"/>
          </a:xfrm>
          <a:prstGeom prst="line">
            <a:avLst/>
          </a:prstGeom>
          <a:noFill/>
          <a:ln w="12700">
            <a:solidFill>
              <a:srgbClr val="D4D0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 – 0.69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56032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R²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3840480"/>
            <a:ext cx="0" cy="822960"/>
          </a:xfrm>
          <a:prstGeom prst="line">
            <a:avLst/>
          </a:prstGeom>
          <a:noFill/>
          <a:ln w="12700">
            <a:solidFill>
              <a:srgbClr val="D4D0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0.66 – 0.93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57200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AUC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3840480"/>
            <a:ext cx="0" cy="822960"/>
          </a:xfrm>
          <a:prstGeom prst="line">
            <a:avLst/>
          </a:prstGeom>
          <a:noFill/>
          <a:ln w="12700">
            <a:solidFill>
              <a:srgbClr val="D4D0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3749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58368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Truth: Maine PERSEUS Validation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943600" y="150876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508760"/>
            <a:ext cx="54864" cy="73152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8" name="Text 5"/>
          <p:cNvSpPr/>
          <p:nvPr/>
        </p:nvSpPr>
        <p:spPr>
          <a:xfrm>
            <a:off x="6144768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 ≈ NE default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4768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default variants track similarly, reaching ~591 MMT by 2043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37744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377440"/>
            <a:ext cx="54864" cy="73152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2" name="Text 9"/>
          <p:cNvSpPr/>
          <p:nvPr/>
        </p:nvSpPr>
        <p:spPr>
          <a:xfrm>
            <a:off x="6144768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calibrated diverges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recalibration reduces NE projection by 8% (48 MMT) at 2043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24612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246120"/>
            <a:ext cx="54864" cy="73152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16" name="Text 13"/>
          <p:cNvSpPr/>
          <p:nvPr/>
        </p:nvSpPr>
        <p:spPr>
          <a:xfrm>
            <a:off x="6144768" y="3291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choice matters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4768" y="3566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NE vs ACD differ by 47 MMT at 2043, entirely from equation form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0" y="411480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4114800"/>
            <a:ext cx="54864" cy="731520"/>
          </a:xfrm>
          <a:prstGeom prst="rect">
            <a:avLst/>
          </a:prstGeom>
          <a:solidFill>
            <a:srgbClr val="1A7A6D"/>
          </a:solidFill>
          <a:ln/>
        </p:spPr>
      </p:sp>
      <p:sp>
        <p:nvSpPr>
          <p:cNvPr id="20" name="Text 17"/>
          <p:cNvSpPr/>
          <p:nvPr/>
        </p:nvSpPr>
        <p:spPr>
          <a:xfrm>
            <a:off x="6144768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 validation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44768" y="4434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configs overshoot FIA at 2018 by 10–13%, suggesting systematic bias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3,586 untreated PERSEUS plots  |  1999–2004 baseline  |  NSBE allometric equations (Westfall et al. 2024)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for a Unified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CONUS Growth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468880" cy="2743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24688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 Boundaries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Arbitrary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species should not predict differently just because it crosses a state line. Our calibration shows that equation form, not ecology, drives inter-variant divergence.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468880" cy="2743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737360"/>
            <a:ext cx="24688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ORGANON Equations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to CONUS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consistent, parsimonious growth forms (ORGANON DG &amp; HG equations) fit well across 84+ species using FIA remeasurement data from all 48 states.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468880" cy="27432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737360"/>
            <a:ext cx="24688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965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Framework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Enables Uncertainty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hierarchical model with species-level random effects provides both point predictions and credible intervals. Posterior draws propagate directly into FVS projections.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709160"/>
            <a:ext cx="1828800" cy="0"/>
          </a:xfrm>
          <a:prstGeom prst="line">
            <a:avLst/>
          </a:prstGeom>
          <a:noFill/>
          <a:ln w="25400">
            <a:solidFill>
              <a:srgbClr val="6B8F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Greg Johnson presents the unified CONUS equation development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FVS: Bayesian Calibration &amp; the Path to CONUS</dc:title>
  <dc:subject>PptxGenJS Presentation</dc:subject>
  <dc:creator>Aaron Weiskittel</dc:creator>
  <cp:lastModifiedBy>Aaron Weiskittel</cp:lastModifiedBy>
  <cp:revision>1</cp:revision>
  <dcterms:created xsi:type="dcterms:W3CDTF">2026-04-12T23:43:37Z</dcterms:created>
  <dcterms:modified xsi:type="dcterms:W3CDTF">2026-04-12T23:43:37Z</dcterms:modified>
</cp:coreProperties>
</file>